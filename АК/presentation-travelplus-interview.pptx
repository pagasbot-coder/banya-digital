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Павел Биджиев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Продакт / бренд-логика</a:t>
            </a:r>
          </a:p>
          <a:p>
            <a:pPr>
              <a:spcAft>
                <a:spcPts val="0"/>
              </a:spcAft>
            </a:pPr>
            <a:r>
              <a:rPr sz="1500" b="0">
                <a:solidFill>
                  <a:srgbClr val="D0E4DC"/>
                </a:solidFill>
                <a:latin typeface="Calibri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0"/>
            <a:ext cx="6217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2F5D50"/>
                </a:solidFill>
                <a:latin typeface="Calibri"/>
              </a:rPr>
              <a:t>Travel+ Natural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1C1C1C"/>
                </a:solidFill>
                <a:latin typeface="Calibri"/>
              </a:rPr>
              <a:t>Своя натуральная линейка: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1C1C1C"/>
                </a:solidFill>
                <a:latin typeface="Calibri"/>
              </a:rPr>
              <a:t>от рамки до пилота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Подготовка · АК-Сервис / Travel+ · Кириши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Пульт бренда v1.14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60350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Горизонтальный формат 16:9 · 12 слайдов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2/12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05156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8016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Travel+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Производство и one-stop на номер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· косметика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· тапочки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· наборы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C1C1C"/>
                </a:solidFill>
                <a:latin typeface="Calibri"/>
              </a:rPr>
              <a:t>Не IT-roadmap.</a:t>
            </a:r>
          </a:p>
          <a:p>
            <a:pPr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Товар от идеи до полки и маржи.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Роль здесь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· ассортимент и новинки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· позиция линейки в доме брендов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· продукт и доказательства до витрины</a:t>
            </a: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· связка 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3/12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05156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8016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Рынок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Конкуренты: ЕТС Natural · MEZO · NS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(чужой premium в каталоге)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Travel+ силён в масс и среднем.</a:t>
            </a:r>
          </a:p>
          <a:p>
            <a:pPr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Слабое место: своя Natural с документами.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Ориентир цен (не оферта)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Hotel Line ~12-15 ₽ / 30 мл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ЕТС Natural ~18 ₽ / 25 мл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Natura Siberica выше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Ставка: между HL и NS</a:t>
            </a:r>
          </a:p>
          <a:p>
            <a:pPr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натуральность · бумаги · one-stop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4/12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05156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8016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Карта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Hotel Line → цена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Fleur / Aquatique / La Nuit → дизайн и аромат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Natural → натуральность + документы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Natura Siberica → чужой premium</a:t>
            </a: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СТМ → отдельный проект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Мостик для продаж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Дизайн и аромат - Fleur.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Натуральность и бумаги - Natural.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Не конкурируют.</a:t>
            </a:r>
          </a:p>
          <a:p>
            <a:pPr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Могут жить на разных этажах одного объекта.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5/12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05156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Обещание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Мягкий уход с понятной натуральностью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для отеля, которому важны и гость, и документы.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5A5A5A"/>
                </a:solidFill>
                <a:latin typeface="Calibri"/>
              </a:rPr>
              <a:t>Доказательства: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· состав в границах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· пакет Travel+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· ощущение в номере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· one-stop</a:t>
            </a:r>
          </a:p>
          <a:p>
            <a:pPr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· «простыми словами» на этикетке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4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BrandScript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Герой: закупщик eco / wellness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Проводник: Travel+ Natural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План: сегмент → образец + бумаги → пилот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5A5A5A"/>
                </a:solidFill>
                <a:latin typeface="Calibri"/>
              </a:rPr>
              <a:t>Гость после дороги:</a:t>
            </a:r>
          </a:p>
          <a:p>
            <a:pPr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мягче, чем ждал - понятная натуральность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Границы до рынка - DoD этапа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6/12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05156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F5D50"/>
                </a:solidFill>
                <a:latin typeface="Calibri"/>
              </a:rPr>
              <a:t>Пока красное - витрину не открываем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□ Метод + % натуральности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□ Пакет как на HL/Fleur + лист Natural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□ Origin зафиксирован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□ Слепой тест запаха с гостями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□ Этикетка «простыми словами»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□ COGS / коридор цены</a:t>
            </a:r>
          </a:p>
          <a:p>
            <a:pPr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□ Lead time / MOQ / брак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4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Правила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На старте без COSMOS, если знака нет - честно.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C1C1C"/>
                </a:solidFill>
                <a:latin typeface="Calibri"/>
              </a:rPr>
              <a:t>Без DoD - не КП и не live GTM.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Этапы 3-6 - учебный сценарий,</a:t>
            </a:r>
          </a:p>
          <a:p>
            <a:pPr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не факт завода.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7/12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97280"/>
            <a:ext cx="1115568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71600"/>
            <a:ext cx="1042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«Вам нужно выглядеть зеленее - и спокойно пройти и гостя, и документы.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Travel+ Natural: пакет как на Hotel Line и Fleur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(декларация / СГР, INCI, протоколы по запросу),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прозрачный состав с „простыми словами“, один договор на номер.</a:t>
            </a:r>
          </a:p>
          <a:p>
            <a:pPr>
              <a:spcAft>
                <a:spcPts val="0"/>
              </a:spcAft>
            </a:pPr>
            <a:r>
              <a:rPr sz="1800" b="1">
                <a:solidFill>
                  <a:srgbClr val="1C1C1C"/>
                </a:solidFill>
                <a:latin typeface="Calibri"/>
              </a:rPr>
              <a:t>Три шага: eco / wellness → образец → пилот.»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49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Отрицания (COSMOS, origin, цена HL) - только в возражениях.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8/12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05156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Возражения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COSMOS обязателен → Natural в это КП не ставим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«Natural по цене HL» → нет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СТМ / наш лого → отдельный проект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«Где произведено?» → только зафиксированный origin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4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Полевая дисциплина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Реестр рисков - один лист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(14 пунктов в пульте).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Сегмент не размываем.</a:t>
            </a:r>
          </a:p>
          <a:p>
            <a:pPr>
              <a:spcAft>
                <a:spcPts val="0"/>
              </a:spcAft>
            </a:pPr>
            <a:r>
              <a:rPr sz="1500" b="1">
                <a:solidFill>
                  <a:srgbClr val="1C1C1C"/>
                </a:solidFill>
                <a:latin typeface="Calibri"/>
              </a:rPr>
              <a:t>Hotel Line не съедаем скидкой Natural.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9/12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05156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2F5D50"/>
                </a:solidFill>
                <a:latin typeface="Calibri"/>
              </a:rPr>
              <a:t>Успех (учебный порог)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3 клиента · повтор ≥2/3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мягкость и ощущение натуральности ≥70%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Hotel Line цел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Цифры сценария - учебный пример,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не отчёт завода.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4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2F5D50"/>
                </a:solidFill>
                <a:latin typeface="Calibri"/>
              </a:rPr>
              <a:t>Провал и выход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Повтор &lt;2/3 или метрики &lt;60%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C1C1C"/>
                </a:solidFill>
                <a:latin typeface="Calibri"/>
              </a:rPr>
              <a:t>→ стоп масштаб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Диагноз за 2 недели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Второй круг снова провален</a:t>
            </a:r>
          </a:p>
          <a:p>
            <a:pPr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→ линейку закрываем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10/12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05156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Экономика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Прайс - после COGS (цена на складе).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Ориентир: выше HL · рядом с ЕТС · ниже NS.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Не война копейкой -</a:t>
            </a:r>
          </a:p>
          <a:p>
            <a:pPr>
              <a:spcAft>
                <a:spcPts val="0"/>
              </a:spcAft>
            </a:pPr>
            <a:r>
              <a:rPr sz="1500" b="1">
                <a:solidFill>
                  <a:srgbClr val="1C1C1C"/>
                </a:solidFill>
                <a:latin typeface="Calibri"/>
              </a:rPr>
              <a:t>пакет и ощущение натуральности.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4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Если Китай / гибрид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Сравниваем заводы в FOB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Логистика до Кириши - отдельной строкой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Landed cost = FOB + фрахт + таможня + довоз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C1C1C"/>
                </a:solidFill>
                <a:latin typeface="Calibri"/>
              </a:rPr>
              <a:t>Срок пилота = «на складе»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Origin не ясен → не говорим «российское»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Что в пульте уже есть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11/12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05156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Содержание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Этапы 0-2 - разведка и правила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Этапы 3-6 - сценарий «как вести дело»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StoryBrand · DoD · риски · возврат</a:t>
            </a:r>
          </a:p>
          <a:p>
            <a:pPr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Мостик портфеля Travel+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4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Справочники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Глоссарий бренда + глоссарий ВЭД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Раздел L: путь · Incoterms · RFQ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Статус: рамка для поля / собеса.</a:t>
            </a:r>
          </a:p>
          <a:p>
            <a:pPr>
              <a:spcAft>
                <a:spcPts val="0"/>
              </a:spcAft>
            </a:pPr>
            <a:r>
              <a:rPr sz="1500" b="1">
                <a:solidFill>
                  <a:srgbClr val="1C1C1C"/>
                </a:solidFill>
                <a:latin typeface="Calibri"/>
              </a:rPr>
              <a:t>v2.0 - когда технолог даст цифры.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F5D50"/>
                </a:solidFill>
                <a:latin typeface="Calibri"/>
              </a:rPr>
              <a:t>Итог и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77240"/>
            <a:ext cx="11155680" cy="22860"/>
          </a:xfrm>
          <a:prstGeom prst="rect">
            <a:avLst/>
          </a:prstGeom>
          <a:solidFill>
            <a:srgbClr val="D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A5A"/>
                </a:solidFill>
                <a:latin typeface="Calibri"/>
              </a:rPr>
              <a:t>Travel+ Natural · пульт v1.14 · собес · не оферта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Calibri"/>
              </a:rPr>
              <a:t>12/12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051560"/>
            <a:ext cx="54406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Собрал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ДНК + StoryBrand + DoD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полевая защита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China checklist (раздел L)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Не прайс завода. Не КП.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4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F5D50"/>
                </a:solidFill>
                <a:latin typeface="Calibri"/>
              </a:rPr>
              <a:t>Готов обсудить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1) приоритет блокеров этапа 2 с технологом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2) пилотный сегмент eco / wellness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3) продажи без каннибализации HL</a:t>
            </a:r>
          </a:p>
          <a:p>
            <a:pPr>
              <a:spcAft>
                <a:spcPts val="0"/>
              </a:spcAft>
            </a:pPr>
            <a:r>
              <a:rPr sz="1600" b="1">
                <a:solidFill>
                  <a:srgbClr val="1C1C1C"/>
                </a:solidFill>
                <a:latin typeface="Calibri"/>
              </a:rPr>
              <a:t>Спасибо.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