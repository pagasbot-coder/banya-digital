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828800"/>
            <a:ext cx="2011680" cy="54864"/>
          </a:xfrm>
          <a:prstGeom prst="rect">
            <a:avLst/>
          </a:prstGeom>
          <a:solidFill>
            <a:srgbClr val="2F6F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B2A4A"/>
                </a:solidFill>
                <a:latin typeface="Calibri"/>
              </a:defRPr>
            </a:pPr>
            <a:r>
              <a:t>Павел Биджиев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8346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solidFill>
                  <a:srgbClr val="555555"/>
                </a:solidFill>
                <a:latin typeface="Calibri"/>
              </a:defRPr>
            </a:pPr>
            <a:r>
              <a:t>Продакт-менеджер  ·  физические товары  ·  косметика / HoReCa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657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22222"/>
                </a:solidFill>
                <a:latin typeface="Calibri"/>
              </a:defRPr>
            </a:pPr>
            <a:r>
              <a:t>Развитие ассортимента Travel+:</a:t>
            </a:r>
          </a:p>
          <a:p>
            <a:pPr>
              <a:defRPr sz="2400" b="0">
                <a:solidFill>
                  <a:srgbClr val="222222"/>
                </a:solidFill>
                <a:latin typeface="Calibri"/>
              </a:defRPr>
            </a:pPr>
            <a:r>
              <a:t>своя Natural-линейка, поставки и экономика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9436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555555"/>
                </a:solidFill>
                <a:latin typeface="Calibri"/>
              </a:defRPr>
            </a:pPr>
            <a:r>
              <a:t>Собеседование  ·  группа АК-Сервис / Travel+  ·  Кириши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  <a:latin typeface="Calibri"/>
              </a:defRPr>
            </a:pPr>
            <a:r>
              <a:t>Как понял компанию и роль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Travel+ — производство в Киришах: косметика, тапочки, наборы для номера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Отель может закрыть номер у одного поставщика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Роль продакта здесь: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• ассортимент и новинки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• рынок и цена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• поставщики, в том числе Китай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• ТЗ → образцы → серия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• связка производства, закупок, продаж и экономики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  <a:latin typeface="Calibri"/>
              </a:defRPr>
            </a:pPr>
            <a:r>
              <a:t>Павел Биджиев  ·  Travel+ / АК-Сервис  ·  2/10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  <a:latin typeface="Calibri"/>
              </a:defRPr>
            </a:pPr>
            <a:r>
              <a:t>Рынок и конкуренты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22222"/>
                </a:solidFill>
                <a:latin typeface="Calibri"/>
              </a:defRPr>
            </a:pPr>
            <a:r>
              <a:t>ЕТС Natural — сильная eco-витрина и цены</a:t>
            </a:r>
          </a:p>
          <a:p>
            <a:pPr>
              <a:spcAft>
                <a:spcPts val="800"/>
              </a:spcAft>
              <a:defRPr sz="1700">
                <a:solidFill>
                  <a:srgbClr val="222222"/>
                </a:solidFill>
                <a:latin typeface="Calibri"/>
              </a:defRPr>
            </a:pPr>
            <a:r>
              <a:t>MEZO, Трейд-Комфорт — похожая модель «всё для номера»</a:t>
            </a:r>
          </a:p>
          <a:p>
            <a:pPr>
              <a:spcAft>
                <a:spcPts val="800"/>
              </a:spcAft>
              <a:defRPr sz="1700">
                <a:solidFill>
                  <a:srgbClr val="222222"/>
                </a:solidFill>
                <a:latin typeface="Calibri"/>
              </a:defRPr>
            </a:pPr>
            <a:r>
              <a:t>COSMI / Гранд Комфорт — широкий опт и чужие бренды</a:t>
            </a:r>
          </a:p>
          <a:p>
            <a:pPr>
              <a:spcAft>
                <a:spcPts val="800"/>
              </a:spcAft>
              <a:defRPr sz="1700">
                <a:solidFill>
                  <a:srgbClr val="222222"/>
                </a:solidFill>
                <a:latin typeface="Calibri"/>
              </a:defRPr>
            </a:pPr>
            <a:r>
              <a:t>Natura Siberica — premium в каталоге, бренд не ваш</a:t>
            </a:r>
          </a:p>
          <a:p>
            <a:pPr>
              <a:spcAft>
                <a:spcPts val="800"/>
              </a:spcAft>
              <a:defRPr sz="1700">
                <a:solidFill>
                  <a:srgbClr val="222222"/>
                </a:solidFill>
                <a:latin typeface="Calibri"/>
              </a:defRPr>
            </a:pPr>
            <a:r>
              <a:t>Контрактные заводы и дешёвый импорт — давление снизу</a:t>
            </a:r>
          </a:p>
          <a:p>
            <a:pPr>
              <a:spcAft>
                <a:spcPts val="800"/>
              </a:spcAft>
              <a:defRPr sz="1700">
                <a:solidFill>
                  <a:srgbClr val="22222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700">
                <a:solidFill>
                  <a:srgbClr val="222222"/>
                </a:solidFill>
                <a:latin typeface="Calibri"/>
              </a:defRPr>
            </a:pPr>
            <a:r>
              <a:t>Вывод: сильный масс/мидл. Слабое место витрины — своя Natural с документами.</a:t>
            </a:r>
          </a:p>
          <a:p>
            <a:pPr>
              <a:spcAft>
                <a:spcPts val="800"/>
              </a:spcAft>
              <a:defRPr sz="1700">
                <a:solidFill>
                  <a:srgbClr val="222222"/>
                </a:solidFill>
                <a:latin typeface="Calibri"/>
              </a:defRPr>
            </a:pPr>
            <a:r>
              <a:t>Ориентир цен (витрина): Hotel Line ~12–15 ₽/30 мл · ЕТС Natural ~18 ₽/25 мл · NS выше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  <a:latin typeface="Calibri"/>
              </a:defRPr>
            </a:pPr>
            <a:r>
              <a:t>Павел Биджиев  ·  Travel+ / АК-Сервис  ·  3/10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6F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F6F6A"/>
                </a:solidFill>
                <a:latin typeface="Calibri"/>
              </a:defRPr>
            </a:pPr>
            <a:r>
              <a:t>Возможность: Travel+ Natural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Дом линеек: Hotel Line → дизайн-линейки → Natural → NS (чужой premium)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Зачем своя Natural: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• не отдавать eco/wellness только конкурентам и чужому бренду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• своя формула, своя маржа, свои доказательства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• можно продавать пакетом с тапочками и наборами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  <a:latin typeface="Calibri"/>
              </a:defRPr>
            </a:pPr>
            <a:r>
              <a:t>Павел Биджиев  ·  Travel+ / АК-Сервис  ·  4/10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6F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F6F6A"/>
                </a:solidFill>
                <a:latin typeface="Calibri"/>
              </a:defRPr>
            </a:pPr>
            <a:r>
              <a:t>Обещание и отличие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Обещание: мягкий уход с понятной натуральностью —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для отеля, которому важны и гость, и документы.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Мы: честный состав · документы · мягкий опыт в номере · один поставщик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Не мы: самый дешёвый · fake-organic · «как NS, только дешевле»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Пилот: шампунь 30 мл · гель 30 мл · мыло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  <a:latin typeface="Calibri"/>
              </a:defRPr>
            </a:pPr>
            <a:r>
              <a:t>Павел Биджиев  ·  Travel+ / АК-Сервис  ·  5/10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  <a:latin typeface="Calibri"/>
              </a:defRPr>
            </a:pPr>
            <a:r>
              <a:t>Рядом: СТМ сетей и диспенсер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СТМ для сетей: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наша формула + логотип отеля + тапочки и наборы в одном договоре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→ защита от ухода на чужой контрактный завод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Диспенсер 300 мл: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меньше мелкого пластика · расход ниже вдолгую · тренд сетей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у NS формат уже есть — у своих линеек зона роста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  <a:latin typeface="Calibri"/>
              </a:defRPr>
            </a:pPr>
            <a:r>
              <a:t>Павел Биджиев  ·  Travel+ / АК-Сервис  ·  6/10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  <a:latin typeface="Calibri"/>
              </a:defRPr>
            </a:pPr>
            <a:r>
              <a:t>Как выведу продукт · первые 90 дней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Вывод: клиент и задача → цель → экономика → ТЗ → образцы → тест → серия → разбор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1–30 дней: ассортимент, маржа, sales / технологи / закупки, конкуренты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31–60 дней: пилот Natural в приоритете, ТЗ, образцы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61–90 дней: экономика, тест у 1–2 клиентов, решение go / no-go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  <a:latin typeface="Calibri"/>
              </a:defRPr>
            </a:pPr>
            <a:r>
              <a:t>Павел Биджиев  ·  Travel+ / АК-Сервис  ·  7/10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  <a:latin typeface="Calibri"/>
              </a:defRPr>
            </a:pPr>
            <a:r>
              <a:t>Логистика: образцы → 10 000 флаконов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22222"/>
                </a:solidFill>
                <a:latin typeface="Calibri"/>
              </a:defRPr>
            </a:pPr>
            <a:r>
              <a:t>Правило: в серию без утверждённого образца не идём</a:t>
            </a:r>
          </a:p>
          <a:p>
            <a:pPr>
              <a:spcAft>
                <a:spcPts val="800"/>
              </a:spcAft>
              <a:defRPr sz="1700">
                <a:solidFill>
                  <a:srgbClr val="22222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700">
                <a:solidFill>
                  <a:srgbClr val="222222"/>
                </a:solidFill>
                <a:latin typeface="Calibri"/>
              </a:defRPr>
            </a:pPr>
            <a:r>
              <a:t>Образцы 20–50 шт. → авиа / курьер → тест → правки</a:t>
            </a:r>
          </a:p>
          <a:p>
            <a:pPr>
              <a:spcAft>
                <a:spcPts val="800"/>
              </a:spcAft>
              <a:defRPr sz="1700">
                <a:solidFill>
                  <a:srgbClr val="222222"/>
                </a:solidFill>
                <a:latin typeface="Calibri"/>
              </a:defRPr>
            </a:pPr>
            <a:r>
              <a:t>10 000 шт. → производство (оплата 30/70)</a:t>
            </a:r>
          </a:p>
          <a:p>
            <a:pPr>
              <a:spcAft>
                <a:spcPts val="800"/>
              </a:spcAft>
              <a:defRPr sz="1700">
                <a:solidFill>
                  <a:srgbClr val="222222"/>
                </a:solidFill>
                <a:latin typeface="Calibri"/>
              </a:defRPr>
            </a:pPr>
            <a:r>
              <a:t>Серия → море LCL или ж/д → таможня → склад Кириши / СПб</a:t>
            </a:r>
          </a:p>
          <a:p>
            <a:pPr>
              <a:spcAft>
                <a:spcPts val="800"/>
              </a:spcAft>
              <a:defRPr sz="1700">
                <a:solidFill>
                  <a:srgbClr val="22222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700">
                <a:solidFill>
                  <a:srgbClr val="222222"/>
                </a:solidFill>
                <a:latin typeface="Calibri"/>
              </a:defRPr>
            </a:pPr>
            <a:r>
              <a:t>С заводом — FOB. До склада — дорога, таможня, брокер, довоз отдельно.</a:t>
            </a:r>
          </a:p>
          <a:p>
            <a:pPr>
              <a:spcAft>
                <a:spcPts val="800"/>
              </a:spcAft>
              <a:defRPr sz="1700">
                <a:solidFill>
                  <a:srgbClr val="222222"/>
                </a:solidFill>
                <a:latin typeface="Calibri"/>
              </a:defRPr>
            </a:pPr>
            <a:r>
              <a:t>Ориентир цикла: ~3,5–5 месяцев. Китай: опыт через посредника, контакт живой.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  <a:latin typeface="Calibri"/>
              </a:defRPr>
            </a:pPr>
            <a:r>
              <a:t>Павел Биджиев  ·  Travel+ / АК-Сервис  ·  8/10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  <a:latin typeface="Calibri"/>
              </a:defRPr>
            </a:pPr>
            <a:r>
              <a:t>Экономика: цена на складе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22222"/>
                </a:solidFill>
                <a:latin typeface="Calibri"/>
              </a:defRPr>
            </a:pPr>
            <a:r>
              <a:t>Цена на складе = FOB + дорога + страховка + таможня + брокер</a:t>
            </a:r>
          </a:p>
          <a:p>
            <a:pPr>
              <a:spcAft>
                <a:spcPts val="800"/>
              </a:spcAft>
              <a:defRPr sz="1700">
                <a:solidFill>
                  <a:srgbClr val="222222"/>
                </a:solidFill>
                <a:latin typeface="Calibri"/>
              </a:defRPr>
            </a:pPr>
            <a:r>
              <a:t>+ довоз + этикетка/короб + запас на брак</a:t>
            </a:r>
          </a:p>
          <a:p>
            <a:pPr>
              <a:spcAft>
                <a:spcPts val="800"/>
              </a:spcAft>
              <a:defRPr sz="1700">
                <a:solidFill>
                  <a:srgbClr val="22222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700">
                <a:solidFill>
                  <a:srgbClr val="222222"/>
                </a:solidFill>
                <a:latin typeface="Calibri"/>
              </a:defRPr>
            </a:pPr>
            <a:r>
              <a:t>Ориентир полки (витрина, не оферта):</a:t>
            </a:r>
          </a:p>
          <a:p>
            <a:pPr>
              <a:spcAft>
                <a:spcPts val="800"/>
              </a:spcAft>
              <a:defRPr sz="1700">
                <a:solidFill>
                  <a:srgbClr val="222222"/>
                </a:solidFill>
                <a:latin typeface="Calibri"/>
              </a:defRPr>
            </a:pPr>
            <a:r>
              <a:t>• Hotel Line ~12–15 ₽</a:t>
            </a:r>
          </a:p>
          <a:p>
            <a:pPr>
              <a:spcAft>
                <a:spcPts val="800"/>
              </a:spcAft>
              <a:defRPr sz="1700">
                <a:solidFill>
                  <a:srgbClr val="222222"/>
                </a:solidFill>
                <a:latin typeface="Calibri"/>
              </a:defRPr>
            </a:pPr>
            <a:r>
              <a:t>• ЕТС Natural ~18 ₽ / 25 мл</a:t>
            </a:r>
          </a:p>
          <a:p>
            <a:pPr>
              <a:spcAft>
                <a:spcPts val="800"/>
              </a:spcAft>
              <a:defRPr sz="1700">
                <a:solidFill>
                  <a:srgbClr val="222222"/>
                </a:solidFill>
                <a:latin typeface="Calibri"/>
              </a:defRPr>
            </a:pPr>
            <a:r>
              <a:t>• наша Natural — между базой и NS</a:t>
            </a:r>
          </a:p>
          <a:p>
            <a:pPr>
              <a:spcAft>
                <a:spcPts val="800"/>
              </a:spcAft>
              <a:defRPr sz="1700">
                <a:solidFill>
                  <a:srgbClr val="22222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700">
                <a:solidFill>
                  <a:srgbClr val="222222"/>
                </a:solidFill>
                <a:latin typeface="Calibri"/>
              </a:defRPr>
            </a:pPr>
            <a:r>
              <a:t>Цель пилота: маржа не хуже Hotel Line</a:t>
            </a:r>
          </a:p>
          <a:p>
            <a:pPr>
              <a:spcAft>
                <a:spcPts val="800"/>
              </a:spcAft>
              <a:defRPr sz="1700">
                <a:solidFill>
                  <a:srgbClr val="222222"/>
                </a:solidFill>
                <a:latin typeface="Calibri"/>
              </a:defRPr>
            </a:pPr>
            <a:r>
              <a:t>(точные цифры — после образцов с финансами и технологами)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  <a:latin typeface="Calibri"/>
              </a:defRPr>
            </a:pPr>
            <a:r>
              <a:t>Павел Биджиев  ·  Travel+ / АК-Сервис  ·  9/10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  <a:latin typeface="Calibri"/>
              </a:defRPr>
            </a:pPr>
            <a:r>
              <a:t>Готов к работе · вопросы вам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Готов работать в Киришах на площадке.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Фокус: ассортимент, новинки, поставщики, экономика.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1. Новый продукт чаще своё производство или Китай?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2. Цикл идея → образец → серия — кто утверждает?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3. Какие цифры на испытательном сроке?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4. С кем в связке каждый день?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5. Почему открыли вакансию — что сейчас болит?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55555"/>
                </a:solidFill>
                <a:latin typeface="Calibri"/>
              </a:defRPr>
            </a:pPr>
            <a:r>
              <a:t>Павел Биджиев  ·  Travel+ / АК-Сервис  ·  10/10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