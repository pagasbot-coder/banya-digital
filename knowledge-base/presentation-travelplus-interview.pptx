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663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965960"/>
            <a:ext cx="3840480" cy="292608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400"/>
              </a:spcAft>
            </a:pPr>
            <a:r>
              <a:rPr sz="3000" b="1">
                <a:solidFill>
                  <a:srgbClr val="FFFFFF"/>
                </a:solidFill>
                <a:latin typeface="Manrope"/>
                <a:rFonts ascii="Manrope" hAnsi="Manrope" cs="Manrope" eastAsia="Manrope"/>
              </a:rPr>
              <a:t>Павел Биджиев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0">
                <a:solidFill>
                  <a:srgbClr val="FFFFFF"/>
                </a:solidFill>
                <a:latin typeface="Golos Text"/>
                <a:rFonts ascii="Golos Text" hAnsi="Golos Text" cs="Golos Text" eastAsia="Golos Text"/>
              </a:rPr>
              <a:t>Продакт / бренд-логика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C8DDD6"/>
                </a:solidFill>
                <a:latin typeface="Golos Text"/>
                <a:rFonts ascii="Golos Text" hAnsi="Golos Text" cs="Golos Text" eastAsia="Golos Text"/>
              </a:rPr>
              <a:t>Физические товары · HoReCa amenities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828800"/>
            <a:ext cx="6309360" cy="3474720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32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Своя натуральная линейка: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от рамки до пилота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Подготовка · АК-Сервис / Travel+ ·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Образец презентации · не оферта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понял роль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One-stop: косметика, тапочки, наборы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Контур производства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Своё производство и сборка; закупки и производство в Китае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Фокус роли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Товар от идеи до полки и маржи.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Роль здесь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Ассортимент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Новинки и позиция в доме брендов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Продукт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Доказательства до выхода на витрину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Связка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Технолог → продажи → экономика → поставка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Дыра на витрине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3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Рынок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Конкуренты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ЕТС Natural · MEZO · Natura Siberica (чужой премиум в каталоге)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Сила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Массовый и средний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Дыра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Своей Natural с документами нет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Ценовая лестка (не оферта)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12–15 ₽ / 30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18 ₽ / 25 мл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30–40 ₽ и выше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Место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Между Hotel Line и Natura Siberica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Дом линеек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4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Портфель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Цена и базовый 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 / Aquatique / La Nuit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Дизайн и аромат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Натуральность и 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Чужой премиум в каталоге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 под логотип отеля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не мешать линейки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Fleur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дизайн и аромат 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Закрывает запрос eco и пакет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Между собой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конкурируют — разные задачи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объекте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Стандартные номера — Hotel Line или Fleur; wellness-этаж — Natural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 + StoryBrand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5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Обещание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Суть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Мягкий уход с понятной натуральностью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Для кого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Отель, которому важен комфорт гостя и спокойная проверка документов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Состав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Согласованные границы + блок «простыми словами» на этикетке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Пакет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Документы Travel+, one-stop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 номере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Ощущение после использования, не только надпись на флаконе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BrandScript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Герой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Закупщик eco / wellness: выглядеть «зеленее» без дыры в бюджете и в бумагах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Проводник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 — своя линейка и один договор 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План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→ образец с документами → пилот на этаже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Гость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После дороги — мягче, чем ожидал; натуральность без громких обещаний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Готовность продукта перед рынком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6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Чеклист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Натуральность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Метод расчёта и доля ингредиентов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Документы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как у Hotel Line и Fleur + лист состава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Origin зафиксирован письменно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Тест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Слепой тест запаха и ощущения с гостями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Этикетка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 «простыми словами»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Себестоимость и коридор цены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Срок, минимальный заказ, правила брака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Как читать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Правило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Каждый пункт обязателен; пока не закрыт — в продажи и на витрину не выходим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говорим честно, не обещаем сертификат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Питч закупщику (30 секунд)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7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11277295" cy="4343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11277295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426464"/>
            <a:ext cx="10582351" cy="3163824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Отель хочет выглядеть экологичнее — без риска для гостя и без пробелов в документах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Предложение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Travel+ Natural: пакет как у Hotel Line и Fleur (декларация, INCI, протоколы по запросу)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Состав с блоком «простыми словами», один договор на весь номер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Сегмент eco / wellness и объект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Образец с этикеткой и документами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Пилот на этаже или в корпусе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590288"/>
            <a:ext cx="10582351" cy="438912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Отрицания (COSMOS, происхождение, цена Hotel Line) — только в блоке возражений.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Поле: возражения и риски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8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Возражения и ответы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COSMOS в тендере обязателен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Знака нет — Natural в КП не ставим. Hotel Line или отказ.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«Natural по цене Hotel Line»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Нет. Другая себестоимость и позиция на полке.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СТМ / логотип отеля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Отдельный проект. Не маскируем под Natural.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«Где произведено?»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зафиксированное происхождение. Без догадок.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Полевая дисциплина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Реестр рисков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Один лист в пульте — 14 пунктов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Сегмент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размываем: Natural не уходит в эконом-запрос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продаём Natural вместо Hotel Line по цене базовой линейки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Пилот: успех, провал, выход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9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Успех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Клиенты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Три пилотных объекта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Повтор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Заказ повторяют минимум два из трёх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Опрос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Мягкость и ощущение натуральности — не ниже 70%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Цена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не ушёл в эконом Hotel Line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Цифры сценария — учебный пример, не отчёт завода.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Провал и выход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Провал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Повтор у меньше двух из трёх — или метрики ниже 60%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Действие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Останавливаем масштабирование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Диагноз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Бренд-менеджер — в течение двух недель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Второй круг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Снова провал → закрываем линейку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Пороги — для учебного сценария в пульте, не KPI завода.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Поставки и экономика (Китай)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10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себестоимости на складе в Киришах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Hotel Line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ЕТС Natural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Рядом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Natura Siberica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Ниже по цене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Стратегия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воюем копейкой с ЕТС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Выигрыш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Пакет документов и ощущение в номере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Поставка из Китая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1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Сравниваем заводы в цене 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Логистику до Кириши — отдельной строкой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Шаг 3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Полная цена = FOB + фрахт + таможня + довоз + 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Происхождение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Не зафиксировано — не называем «российское»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Себестоимость: как считаю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11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Цена на складе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FOB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База сравнения заводов — отдельно от логистики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Доставка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Фрахт, экспедитор, довоз до Кириши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Таможня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Пошлина, НДС, брокер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Запас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Брак, пересорт, курс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Итог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Сумма строк = цена на складе → из неё прайс и маржа</a:t>
            </a:r>
          </a:p>
          <a:p>
            <a:pPr algn="l">
              <a:lnSpc>
                <a:spcPct val="118000"/>
              </a:lnSpc>
              <a:spcBef>
                <a:spcPts val="1800"/>
              </a:spcBef>
              <a:spcAft>
                <a:spcPts val="0"/>
              </a:spcAft>
            </a:pPr>
            <a:r>
              <a:rPr sz="12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Без этой таблицы прайс Natural не утверждаю.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Правила расчёта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Заводы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Минимум два FOB в сравнении до контракта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Прайс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Только после landed cost, не «с потолка»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Маржа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Natural и Hotel Line — разная экономика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Срок в КП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Дата «на складе», не «завод отгрузил»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Коридор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Выше Hotel Line, рядом с ЕТС, ниже Natura Siberica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56032"/>
            <a:ext cx="112471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Итог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04672"/>
            <a:ext cx="2011680" cy="3657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6263640"/>
            <a:ext cx="11277295" cy="13716"/>
          </a:xfrm>
          <a:prstGeom prst="rect">
            <a:avLst/>
          </a:prstGeom>
          <a:solidFill>
            <a:srgbClr val="D4CE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9601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Natural · пример презентации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0">
                <a:solidFill>
                  <a:srgbClr val="5C5C5C"/>
                </a:solidFill>
                <a:latin typeface="Golos Text"/>
                <a:rFonts ascii="Golos Text" hAnsi="Golos Text" cs="Golos Text" eastAsia="Golos Text"/>
              </a:rPr>
              <a:t>12 /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23863" y="960120"/>
            <a:ext cx="5510631" cy="5074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4CE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23863" y="960120"/>
            <a:ext cx="5510631" cy="82296"/>
          </a:xfrm>
          <a:prstGeom prst="rect">
            <a:avLst/>
          </a:prstGeom>
          <a:solidFill>
            <a:srgbClr val="2A55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Почему Travel+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Задача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Физический товар: своё производство, Китай, дыра Natural на полке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Роль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От рамки линейки до пилота — продукт, цена, документы, поставка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Старт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Блокеры этапа 2 с технологом и пилотный сегмент eco / wellness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71335" y="1426464"/>
            <a:ext cx="4815687" cy="4334256"/>
          </a:xfrm>
          <a:prstGeom prst="rect">
            <a:avLst/>
          </a:prstGeom>
          <a:noFill/>
        </p:spPr>
        <p:txBody>
          <a:bodyPr wrap="square" anchor="t" lIns="50800" rIns="50800" tIns="25400" bIns="25400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2A554A"/>
                </a:solidFill>
                <a:latin typeface="Manrope"/>
                <a:rFonts ascii="Manrope" hAnsi="Manrope" cs="Manrope" eastAsia="Manrope"/>
              </a:rPr>
              <a:t>Готов присоединиться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Направление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Вести Natural и работать с линейкой в этом контуре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Подход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Цифры и рамка в руках у продаж и завода — не презентация ради слайдов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A1A1A"/>
                </a:solidFill>
                <a:latin typeface="Manrope"/>
                <a:rFonts ascii="Manrope" hAnsi="Manrope" cs="Manrope" eastAsia="Manrope"/>
              </a:rPr>
              <a:t>Финал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Golos Text"/>
                <a:rFonts ascii="Golos Text" hAnsi="Golos Text" cs="Golos Text" eastAsia="Golos Text"/>
              </a:rPr>
              <a:t>Буду рад присоединиться к команде. Спасибо. Вопросы?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