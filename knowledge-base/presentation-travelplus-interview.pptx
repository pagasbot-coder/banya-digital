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4663440" cy="6858000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965960"/>
            <a:ext cx="3840480" cy="2926080"/>
          </a:xfrm>
          <a:prstGeom prst="rect">
            <a:avLst/>
          </a:prstGeom>
          <a:noFill/>
        </p:spPr>
        <p:txBody>
          <a:bodyPr wrap="square" anchor="t" lIns="50800" rIns="50800" tIns="25400" bIns="254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400"/>
              </a:spcAft>
            </a:pPr>
            <a:r>
              <a:rPr sz="3000" b="1">
                <a:solidFill>
                  <a:srgbClr val="FFFFFF"/>
                </a:solidFill>
                <a:latin typeface="Manrope"/>
                <a:rFonts ascii="Manrope" hAnsi="Manrope" cs="Manrope" eastAsia="Manrope"/>
              </a:rPr>
              <a:t>Павел Биджиев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700" b="0">
                <a:solidFill>
                  <a:srgbClr val="FFFFFF"/>
                </a:solidFill>
                <a:latin typeface="Golos Text"/>
                <a:rFonts ascii="Golos Text" hAnsi="Golos Text" cs="Golos Text" eastAsia="Golos Text"/>
              </a:rPr>
              <a:t>Продакт / бренд-логика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C8DDD6"/>
                </a:solidFill>
                <a:latin typeface="Golos Text"/>
                <a:rFonts ascii="Golos Text" hAnsi="Golos Text" cs="Golos Text" eastAsia="Golos Text"/>
              </a:rPr>
              <a:t>Физические товары · HoReCa amenities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12080" y="1828800"/>
            <a:ext cx="6309360" cy="3474720"/>
          </a:xfrm>
          <a:prstGeom prst="rect">
            <a:avLst/>
          </a:prstGeom>
          <a:noFill/>
        </p:spPr>
        <p:txBody>
          <a:bodyPr wrap="square" anchor="t" lIns="50800" rIns="50800" tIns="25400" bIns="254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200"/>
              </a:spcAft>
            </a:pPr>
            <a:r>
              <a:rPr sz="3200" b="1">
                <a:solidFill>
                  <a:srgbClr val="2A554A"/>
                </a:solidFill>
                <a:latin typeface="Manrope"/>
                <a:rFonts ascii="Manrope" hAnsi="Manrope" cs="Manrope" eastAsia="Manrope"/>
              </a:rPr>
              <a:t>Travel+ Natural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900" b="0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Своя натуральная линейка: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800"/>
              </a:spcAft>
            </a:pPr>
            <a:r>
              <a:rPr sz="1900" b="0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от рамки до пилота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5C5C5C"/>
                </a:solidFill>
                <a:latin typeface="Golos Text"/>
                <a:rFonts ascii="Golos Text" hAnsi="Golos Text" cs="Golos Text" eastAsia="Golos Text"/>
              </a:rPr>
              <a:t>Подготовка · АК-Сервис / Travel+ · Кириши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C5C5C"/>
                </a:solidFill>
                <a:latin typeface="Golos Text"/>
                <a:rFonts ascii="Golos Text" hAnsi="Golos Text" cs="Golos Text" eastAsia="Golos Text"/>
              </a:rPr>
              <a:t>Образец презентации · не оферта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56032"/>
            <a:ext cx="11247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2A554A"/>
                </a:solidFill>
                <a:latin typeface="Manrope"/>
                <a:rFonts ascii="Manrope" hAnsi="Manrope" cs="Manrope" eastAsia="Manrope"/>
              </a:rPr>
              <a:t>Как понял роль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04672"/>
            <a:ext cx="2011680" cy="3657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6263640"/>
            <a:ext cx="11277295" cy="13716"/>
          </a:xfrm>
          <a:prstGeom prst="rect">
            <a:avLst/>
          </a:prstGeom>
          <a:solidFill>
            <a:srgbClr val="D4CE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355080"/>
            <a:ext cx="9601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5C5C5C"/>
                </a:solidFill>
                <a:latin typeface="Golos Text"/>
                <a:rFonts ascii="Golos Text" hAnsi="Golos Text" cs="Golos Text" eastAsia="Golos Text"/>
              </a:rPr>
              <a:t>Natural · пример презентации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355080"/>
            <a:ext cx="1280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>
                <a:solidFill>
                  <a:srgbClr val="5C5C5C"/>
                </a:solidFill>
                <a:latin typeface="Golos Text"/>
                <a:rFonts ascii="Golos Text" hAnsi="Golos Text" cs="Golos Text" eastAsia="Golos Text"/>
              </a:rPr>
              <a:t>2 / 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960120"/>
            <a:ext cx="5510631" cy="5074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4C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960120"/>
            <a:ext cx="5510631" cy="8229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23863" y="960120"/>
            <a:ext cx="5510631" cy="5074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4C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23863" y="960120"/>
            <a:ext cx="5510631" cy="8229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" y="1426464"/>
            <a:ext cx="4815687" cy="4334256"/>
          </a:xfrm>
          <a:prstGeom prst="rect">
            <a:avLst/>
          </a:prstGeom>
          <a:noFill/>
        </p:spPr>
        <p:txBody>
          <a:bodyPr wrap="square" anchor="t" lIns="50800" rIns="50800" tIns="25400" bIns="254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>
                <a:solidFill>
                  <a:srgbClr val="2A554A"/>
                </a:solidFill>
                <a:latin typeface="Manrope"/>
                <a:rFonts ascii="Manrope" hAnsi="Manrope" cs="Manrope" eastAsia="Manrope"/>
              </a:rPr>
              <a:t>Travel+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Поставка на номер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One-stop: косметика, тапочки, наборы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Контур производства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Своё производство и сборка; закупки и производство в Китае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Фокус роли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Товар от идеи до полки и маржи.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71335" y="1426464"/>
            <a:ext cx="4815687" cy="4334256"/>
          </a:xfrm>
          <a:prstGeom prst="rect">
            <a:avLst/>
          </a:prstGeom>
          <a:noFill/>
        </p:spPr>
        <p:txBody>
          <a:bodyPr wrap="square" anchor="t" lIns="50800" rIns="50800" tIns="25400" bIns="254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>
                <a:solidFill>
                  <a:srgbClr val="2A554A"/>
                </a:solidFill>
                <a:latin typeface="Manrope"/>
                <a:rFonts ascii="Manrope" hAnsi="Manrope" cs="Manrope" eastAsia="Manrope"/>
              </a:rPr>
              <a:t>Роль здесь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Ассортимент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Новинки и позиция в доме брендов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Продукт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Доказательства до выхода на витрину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Связка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Технолог → продажи → экономика → поставка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56032"/>
            <a:ext cx="11247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2A554A"/>
                </a:solidFill>
                <a:latin typeface="Manrope"/>
                <a:rFonts ascii="Manrope" hAnsi="Manrope" cs="Manrope" eastAsia="Manrope"/>
              </a:rPr>
              <a:t>Дыра на витрине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04672"/>
            <a:ext cx="2011680" cy="3657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6263640"/>
            <a:ext cx="11277295" cy="13716"/>
          </a:xfrm>
          <a:prstGeom prst="rect">
            <a:avLst/>
          </a:prstGeom>
          <a:solidFill>
            <a:srgbClr val="D4CE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355080"/>
            <a:ext cx="9601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5C5C5C"/>
                </a:solidFill>
                <a:latin typeface="Golos Text"/>
                <a:rFonts ascii="Golos Text" hAnsi="Golos Text" cs="Golos Text" eastAsia="Golos Text"/>
              </a:rPr>
              <a:t>Natural · пример презентации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355080"/>
            <a:ext cx="1280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>
                <a:solidFill>
                  <a:srgbClr val="5C5C5C"/>
                </a:solidFill>
                <a:latin typeface="Golos Text"/>
                <a:rFonts ascii="Golos Text" hAnsi="Golos Text" cs="Golos Text" eastAsia="Golos Text"/>
              </a:rPr>
              <a:t>3 / 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960120"/>
            <a:ext cx="5510631" cy="5074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4C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960120"/>
            <a:ext cx="5510631" cy="8229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23863" y="960120"/>
            <a:ext cx="5510631" cy="5074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4C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23863" y="960120"/>
            <a:ext cx="5510631" cy="8229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" y="1426464"/>
            <a:ext cx="4815687" cy="4334256"/>
          </a:xfrm>
          <a:prstGeom prst="rect">
            <a:avLst/>
          </a:prstGeom>
          <a:noFill/>
        </p:spPr>
        <p:txBody>
          <a:bodyPr wrap="square" anchor="t" lIns="50800" rIns="50800" tIns="25400" bIns="254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>
                <a:solidFill>
                  <a:srgbClr val="2A554A"/>
                </a:solidFill>
                <a:latin typeface="Manrope"/>
                <a:rFonts ascii="Manrope" hAnsi="Manrope" cs="Manrope" eastAsia="Manrope"/>
              </a:rPr>
              <a:t>Рынок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Конкуренты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ЕТС Natural · MEZO · Natura Siberica (чужой премиум в каталоге)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Сила Travel+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Массовый и средний сегмент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Дыра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Своей Natural с документами нет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71335" y="1426464"/>
            <a:ext cx="4815687" cy="4334256"/>
          </a:xfrm>
          <a:prstGeom prst="rect">
            <a:avLst/>
          </a:prstGeom>
          <a:noFill/>
        </p:spPr>
        <p:txBody>
          <a:bodyPr wrap="square" anchor="t" lIns="50800" rIns="50800" tIns="25400" bIns="254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>
                <a:solidFill>
                  <a:srgbClr val="2A554A"/>
                </a:solidFill>
                <a:latin typeface="Manrope"/>
                <a:rFonts ascii="Manrope" hAnsi="Manrope" cs="Manrope" eastAsia="Manrope"/>
              </a:rPr>
              <a:t>Ценовая лестка (не оферта)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Hotel Line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12–15 ₽ / 30 мл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ЕТС Natural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18 ₽ / 25 мл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Natura Siberica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30–40 ₽ и выше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Место Natural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Между Hotel Line и Natura Siberica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56032"/>
            <a:ext cx="11247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2A554A"/>
                </a:solidFill>
                <a:latin typeface="Manrope"/>
                <a:rFonts ascii="Manrope" hAnsi="Manrope" cs="Manrope" eastAsia="Manrope"/>
              </a:rPr>
              <a:t>Дом линеек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04672"/>
            <a:ext cx="2011680" cy="3657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6263640"/>
            <a:ext cx="11277295" cy="13716"/>
          </a:xfrm>
          <a:prstGeom prst="rect">
            <a:avLst/>
          </a:prstGeom>
          <a:solidFill>
            <a:srgbClr val="D4CE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355080"/>
            <a:ext cx="9601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5C5C5C"/>
                </a:solidFill>
                <a:latin typeface="Golos Text"/>
                <a:rFonts ascii="Golos Text" hAnsi="Golos Text" cs="Golos Text" eastAsia="Golos Text"/>
              </a:rPr>
              <a:t>Natural · пример презентации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355080"/>
            <a:ext cx="1280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>
                <a:solidFill>
                  <a:srgbClr val="5C5C5C"/>
                </a:solidFill>
                <a:latin typeface="Golos Text"/>
                <a:rFonts ascii="Golos Text" hAnsi="Golos Text" cs="Golos Text" eastAsia="Golos Text"/>
              </a:rPr>
              <a:t>4 / 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960120"/>
            <a:ext cx="5510631" cy="5074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4C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960120"/>
            <a:ext cx="5510631" cy="8229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23863" y="960120"/>
            <a:ext cx="5510631" cy="5074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4C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23863" y="960120"/>
            <a:ext cx="5510631" cy="8229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" y="1426464"/>
            <a:ext cx="4815687" cy="4334256"/>
          </a:xfrm>
          <a:prstGeom prst="rect">
            <a:avLst/>
          </a:prstGeom>
          <a:noFill/>
        </p:spPr>
        <p:txBody>
          <a:bodyPr wrap="square" anchor="t" lIns="50800" rIns="50800" tIns="25400" bIns="254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>
                <a:solidFill>
                  <a:srgbClr val="2A554A"/>
                </a:solidFill>
                <a:latin typeface="Manrope"/>
                <a:rFonts ascii="Manrope" hAnsi="Manrope" cs="Manrope" eastAsia="Manrope"/>
              </a:rPr>
              <a:t>Портфель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Hotel Line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Цена и базовый сегмент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Fleur / Aquatique / La Nuit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Дизайн и аромат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Natural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Натуральность и документы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Natura Siberica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Чужой премиум в каталоге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СТМ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Отдельный проект под логотип отеля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71335" y="1426464"/>
            <a:ext cx="4815687" cy="4334256"/>
          </a:xfrm>
          <a:prstGeom prst="rect">
            <a:avLst/>
          </a:prstGeom>
          <a:noFill/>
        </p:spPr>
        <p:txBody>
          <a:bodyPr wrap="square" anchor="t" lIns="50800" rIns="50800" tIns="25400" bIns="254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>
                <a:solidFill>
                  <a:srgbClr val="2A554A"/>
                </a:solidFill>
                <a:latin typeface="Manrope"/>
                <a:rFonts ascii="Manrope" hAnsi="Manrope" cs="Manrope" eastAsia="Manrope"/>
              </a:rPr>
              <a:t>Как не мешать линейки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Fleur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Закрывает дизайн и аромат в номере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Natural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Закрывает запрос eco и пакет документов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Между собой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Не конкурируют — разные задачи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На объекте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Стандартные номера — Hotel Line или Fleur; wellness-этаж — Natural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56032"/>
            <a:ext cx="11247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2A554A"/>
                </a:solidFill>
                <a:latin typeface="Manrope"/>
                <a:rFonts ascii="Manrope" hAnsi="Manrope" cs="Manrope" eastAsia="Manrope"/>
              </a:rPr>
              <a:t>Обещание + StoryBrand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04672"/>
            <a:ext cx="2011680" cy="3657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6263640"/>
            <a:ext cx="11277295" cy="13716"/>
          </a:xfrm>
          <a:prstGeom prst="rect">
            <a:avLst/>
          </a:prstGeom>
          <a:solidFill>
            <a:srgbClr val="D4CE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355080"/>
            <a:ext cx="9601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5C5C5C"/>
                </a:solidFill>
                <a:latin typeface="Golos Text"/>
                <a:rFonts ascii="Golos Text" hAnsi="Golos Text" cs="Golos Text" eastAsia="Golos Text"/>
              </a:rPr>
              <a:t>Natural · пример презентации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355080"/>
            <a:ext cx="1280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>
                <a:solidFill>
                  <a:srgbClr val="5C5C5C"/>
                </a:solidFill>
                <a:latin typeface="Golos Text"/>
                <a:rFonts ascii="Golos Text" hAnsi="Golos Text" cs="Golos Text" eastAsia="Golos Text"/>
              </a:rPr>
              <a:t>5 / 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960120"/>
            <a:ext cx="5510631" cy="5074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4C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960120"/>
            <a:ext cx="5510631" cy="8229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23863" y="960120"/>
            <a:ext cx="5510631" cy="5074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4C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23863" y="960120"/>
            <a:ext cx="5510631" cy="8229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" y="1426464"/>
            <a:ext cx="4815687" cy="4334256"/>
          </a:xfrm>
          <a:prstGeom prst="rect">
            <a:avLst/>
          </a:prstGeom>
          <a:noFill/>
        </p:spPr>
        <p:txBody>
          <a:bodyPr wrap="square" anchor="t" lIns="50800" rIns="50800" tIns="25400" bIns="254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>
                <a:solidFill>
                  <a:srgbClr val="2A554A"/>
                </a:solidFill>
                <a:latin typeface="Manrope"/>
                <a:rFonts ascii="Manrope" hAnsi="Manrope" cs="Manrope" eastAsia="Manrope"/>
              </a:rPr>
              <a:t>Обещание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Суть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Мягкий уход с понятной натуральностью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Для кого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Отель, которому важен комфорт гостя и спокойная проверка документов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Состав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Согласованные границы + блок «простыми словами» на этикетке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Пакет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Документы Travel+, one-stop на номер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В номере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Ощущение после использования, не только надпись на флаконе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71335" y="1426464"/>
            <a:ext cx="4815687" cy="4334256"/>
          </a:xfrm>
          <a:prstGeom prst="rect">
            <a:avLst/>
          </a:prstGeom>
          <a:noFill/>
        </p:spPr>
        <p:txBody>
          <a:bodyPr wrap="square" anchor="t" lIns="50800" rIns="50800" tIns="25400" bIns="254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>
                <a:solidFill>
                  <a:srgbClr val="2A554A"/>
                </a:solidFill>
                <a:latin typeface="Manrope"/>
                <a:rFonts ascii="Manrope" hAnsi="Manrope" cs="Manrope" eastAsia="Manrope"/>
              </a:rPr>
              <a:t>BrandScript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Герой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Закупщик eco / wellness: выглядеть «зеленее» без дыры в бюджете и в бумагах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Проводник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Travel+ Natural — своя линейка и один договор на номер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План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Сегмент → образец с документами → пилот на этаже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Гость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После дороги — мягче, чем ожидал; натуральность без громких обещаний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56032"/>
            <a:ext cx="11247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2A554A"/>
                </a:solidFill>
                <a:latin typeface="Manrope"/>
                <a:rFonts ascii="Manrope" hAnsi="Manrope" cs="Manrope" eastAsia="Manrope"/>
              </a:rPr>
              <a:t>Готовность продукта перед рынком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04672"/>
            <a:ext cx="2011680" cy="3657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6263640"/>
            <a:ext cx="11277295" cy="13716"/>
          </a:xfrm>
          <a:prstGeom prst="rect">
            <a:avLst/>
          </a:prstGeom>
          <a:solidFill>
            <a:srgbClr val="D4CE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355080"/>
            <a:ext cx="9601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5C5C5C"/>
                </a:solidFill>
                <a:latin typeface="Golos Text"/>
                <a:rFonts ascii="Golos Text" hAnsi="Golos Text" cs="Golos Text" eastAsia="Golos Text"/>
              </a:rPr>
              <a:t>Natural · пример презентации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355080"/>
            <a:ext cx="1280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>
                <a:solidFill>
                  <a:srgbClr val="5C5C5C"/>
                </a:solidFill>
                <a:latin typeface="Golos Text"/>
                <a:rFonts ascii="Golos Text" hAnsi="Golos Text" cs="Golos Text" eastAsia="Golos Text"/>
              </a:rPr>
              <a:t>6 / 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960120"/>
            <a:ext cx="5510631" cy="5074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4C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960120"/>
            <a:ext cx="5510631" cy="8229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23863" y="960120"/>
            <a:ext cx="5510631" cy="5074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4C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23863" y="960120"/>
            <a:ext cx="5510631" cy="8229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" y="1426464"/>
            <a:ext cx="4815687" cy="4334256"/>
          </a:xfrm>
          <a:prstGeom prst="rect">
            <a:avLst/>
          </a:prstGeom>
          <a:noFill/>
        </p:spPr>
        <p:txBody>
          <a:bodyPr wrap="square" anchor="t" lIns="50800" rIns="50800" tIns="25400" bIns="254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>
                <a:solidFill>
                  <a:srgbClr val="2A554A"/>
                </a:solidFill>
                <a:latin typeface="Manrope"/>
                <a:rFonts ascii="Manrope" hAnsi="Manrope" cs="Manrope" eastAsia="Manrope"/>
              </a:rPr>
              <a:t>Чеклист: без этого — не в продажи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□ Метод расчёта и доля натуральных ингредиентов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□ Пакет документов как у Hotel Line и Fleur + лист состава Natural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□ Происхождение (origin) зафиксировано письменно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□ Слепой тест запаха и ощущения с гостями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□ Этикетка с блоком «простыми словами»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□ Себестоимость и коридор цены на полке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□ Срок поставки, минимальный заказ, правила брака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71335" y="1426464"/>
            <a:ext cx="4815687" cy="4334256"/>
          </a:xfrm>
          <a:prstGeom prst="rect">
            <a:avLst/>
          </a:prstGeom>
          <a:noFill/>
        </p:spPr>
        <p:txBody>
          <a:bodyPr wrap="square" anchor="t" lIns="50800" rIns="50800" tIns="25400" bIns="254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>
                <a:solidFill>
                  <a:srgbClr val="2A554A"/>
                </a:solidFill>
                <a:latin typeface="Manrope"/>
                <a:rFonts ascii="Manrope" hAnsi="Manrope" cs="Manrope" eastAsia="Manrope"/>
              </a:rPr>
              <a:t>Как читать список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Каждый пункт — обязательное условие.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Пока хотя бы один не закрыт — коммерческое предложение и выход на витрину стоп.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На старте без знака COSMOS, если его нет — говорим честно.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Этапы 3–6 в пульте — учебный сценарий,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а не отчёт завода и не основание для КП.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56032"/>
            <a:ext cx="11247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2A554A"/>
                </a:solidFill>
                <a:latin typeface="Manrope"/>
                <a:rFonts ascii="Manrope" hAnsi="Manrope" cs="Manrope" eastAsia="Manrope"/>
              </a:rPr>
              <a:t>Питч закупщику (30 секунд)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04672"/>
            <a:ext cx="2011680" cy="3657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6263640"/>
            <a:ext cx="11277295" cy="13716"/>
          </a:xfrm>
          <a:prstGeom prst="rect">
            <a:avLst/>
          </a:prstGeom>
          <a:solidFill>
            <a:srgbClr val="D4CE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355080"/>
            <a:ext cx="9601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5C5C5C"/>
                </a:solidFill>
                <a:latin typeface="Golos Text"/>
                <a:rFonts ascii="Golos Text" hAnsi="Golos Text" cs="Golos Text" eastAsia="Golos Text"/>
              </a:rPr>
              <a:t>Natural · пример презентации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355080"/>
            <a:ext cx="1280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>
                <a:solidFill>
                  <a:srgbClr val="5C5C5C"/>
                </a:solidFill>
                <a:latin typeface="Golos Text"/>
                <a:rFonts ascii="Golos Text" hAnsi="Golos Text" cs="Golos Text" eastAsia="Golos Text"/>
              </a:rPr>
              <a:t>7 / 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960120"/>
            <a:ext cx="11277295" cy="4343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4C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960120"/>
            <a:ext cx="11277295" cy="8229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1426464"/>
            <a:ext cx="10582351" cy="3602736"/>
          </a:xfrm>
          <a:prstGeom prst="rect">
            <a:avLst/>
          </a:prstGeom>
          <a:noFill/>
        </p:spPr>
        <p:txBody>
          <a:bodyPr wrap="square" anchor="t" lIns="50800" rIns="50800" tIns="25400" bIns="254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Задача закупщика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Отель хочет выглядеть экологичнее — без риска для гостя и без пробелов в документах при проверке.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Что предлагаем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Travel+ Natural — пакет документов как у Hotel Line и Fleur: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декларация или СГР, INCI, протоколы по запросу.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Состав с блоком «простыми словами». Один договор на весь номер.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Три шага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1. Сегмент eco / wellness и объект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2. Образец с этикеткой и документами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3. Пилот на этаже или в корпусе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5468112"/>
            <a:ext cx="10582351" cy="502920"/>
          </a:xfrm>
          <a:prstGeom prst="rect">
            <a:avLst/>
          </a:prstGeom>
          <a:noFill/>
        </p:spPr>
        <p:txBody>
          <a:bodyPr wrap="square" anchor="t" lIns="50800" rIns="50800" tIns="25400" bIns="254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C5C5C"/>
                </a:solidFill>
                <a:latin typeface="Golos Text"/>
                <a:rFonts ascii="Golos Text" hAnsi="Golos Text" cs="Golos Text" eastAsia="Golos Text"/>
              </a:rPr>
              <a:t>Отрицания (COSMOS, происхождение, цена Hotel Line) — только в блоке возражений.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56032"/>
            <a:ext cx="11247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2A554A"/>
                </a:solidFill>
                <a:latin typeface="Manrope"/>
                <a:rFonts ascii="Manrope" hAnsi="Manrope" cs="Manrope" eastAsia="Manrope"/>
              </a:rPr>
              <a:t>Поле: возражения и риски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04672"/>
            <a:ext cx="2011680" cy="3657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6263640"/>
            <a:ext cx="11277295" cy="13716"/>
          </a:xfrm>
          <a:prstGeom prst="rect">
            <a:avLst/>
          </a:prstGeom>
          <a:solidFill>
            <a:srgbClr val="D4CE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355080"/>
            <a:ext cx="9601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5C5C5C"/>
                </a:solidFill>
                <a:latin typeface="Golos Text"/>
                <a:rFonts ascii="Golos Text" hAnsi="Golos Text" cs="Golos Text" eastAsia="Golos Text"/>
              </a:rPr>
              <a:t>Natural · пример презентации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355080"/>
            <a:ext cx="1280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>
                <a:solidFill>
                  <a:srgbClr val="5C5C5C"/>
                </a:solidFill>
                <a:latin typeface="Golos Text"/>
                <a:rFonts ascii="Golos Text" hAnsi="Golos Text" cs="Golos Text" eastAsia="Golos Text"/>
              </a:rPr>
              <a:t>8 / 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960120"/>
            <a:ext cx="5510631" cy="5074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4C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960120"/>
            <a:ext cx="5510631" cy="8229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23863" y="960120"/>
            <a:ext cx="5510631" cy="5074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4C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23863" y="960120"/>
            <a:ext cx="5510631" cy="8229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" y="1426464"/>
            <a:ext cx="4815687" cy="4334256"/>
          </a:xfrm>
          <a:prstGeom prst="rect">
            <a:avLst/>
          </a:prstGeom>
          <a:noFill/>
        </p:spPr>
        <p:txBody>
          <a:bodyPr wrap="square" anchor="t" lIns="50800" rIns="50800" tIns="25400" bIns="254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>
                <a:solidFill>
                  <a:srgbClr val="2A554A"/>
                </a:solidFill>
                <a:latin typeface="Manrope"/>
                <a:rFonts ascii="Manrope" hAnsi="Manrope" cs="Manrope" eastAsia="Manrope"/>
              </a:rPr>
              <a:t>Возражения и ответы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COSMOS в тендере обязателен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Знака нет — Natural в это коммерческое предложение не ставим. Предлагаем Hotel Line или отказ.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«Natural по цене Hotel Line»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Нет. Другая себестоимость и другая позиция на полке.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СТМ / логотип отеля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Отдельный проект. Не маскируем под Natural.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«Где произведено?»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Только зафиксированное происхождение. Без догадок и «скорее всего».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71335" y="1426464"/>
            <a:ext cx="4815687" cy="4334256"/>
          </a:xfrm>
          <a:prstGeom prst="rect">
            <a:avLst/>
          </a:prstGeom>
          <a:noFill/>
        </p:spPr>
        <p:txBody>
          <a:bodyPr wrap="square" anchor="t" lIns="50800" rIns="50800" tIns="25400" bIns="254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>
                <a:solidFill>
                  <a:srgbClr val="2A554A"/>
                </a:solidFill>
                <a:latin typeface="Manrope"/>
                <a:rFonts ascii="Manrope" hAnsi="Manrope" cs="Manrope" eastAsia="Manrope"/>
              </a:rPr>
              <a:t>Полевая дисциплина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Реестр рисков — один лист в пульте (14 пунктов).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Сегмент не размываем: Natural не уходит в эконом-запрос.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Не продаём Natural вместо Hotel Line по цене базовой линейки.</a:t>
            </a:r>
          </a:p>
          <a:p>
            <a:pPr algn="l">
              <a:lnSpc>
                <a:spcPct val="118000"/>
              </a:lnSpc>
              <a:spcBef>
                <a:spcPts val="1800"/>
              </a:spcBef>
              <a:spcAft>
                <a:spcPts val="0"/>
              </a:spcAft>
            </a:pPr>
            <a:r>
              <a:rPr sz="1200" b="0">
                <a:solidFill>
                  <a:srgbClr val="5C5C5C"/>
                </a:solidFill>
                <a:latin typeface="Golos Text"/>
                <a:rFonts ascii="Golos Text" hAnsi="Golos Text" cs="Golos Text" eastAsia="Golos Text"/>
              </a:rPr>
              <a:t>Цифры сценария — учебный пример, не отчёт завода.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56032"/>
            <a:ext cx="11247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2A554A"/>
                </a:solidFill>
                <a:latin typeface="Manrope"/>
                <a:rFonts ascii="Manrope" hAnsi="Manrope" cs="Manrope" eastAsia="Manrope"/>
              </a:rPr>
              <a:t>Пилот: успех, провал, выход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04672"/>
            <a:ext cx="2011680" cy="3657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6263640"/>
            <a:ext cx="11277295" cy="13716"/>
          </a:xfrm>
          <a:prstGeom prst="rect">
            <a:avLst/>
          </a:prstGeom>
          <a:solidFill>
            <a:srgbClr val="D4CE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355080"/>
            <a:ext cx="9601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5C5C5C"/>
                </a:solidFill>
                <a:latin typeface="Golos Text"/>
                <a:rFonts ascii="Golos Text" hAnsi="Golos Text" cs="Golos Text" eastAsia="Golos Text"/>
              </a:rPr>
              <a:t>Natural · пример презентации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355080"/>
            <a:ext cx="1280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>
                <a:solidFill>
                  <a:srgbClr val="5C5C5C"/>
                </a:solidFill>
                <a:latin typeface="Golos Text"/>
                <a:rFonts ascii="Golos Text" hAnsi="Golos Text" cs="Golos Text" eastAsia="Golos Text"/>
              </a:rPr>
              <a:t>9 / 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960120"/>
            <a:ext cx="5510631" cy="5074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4C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960120"/>
            <a:ext cx="5510631" cy="8229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23863" y="960120"/>
            <a:ext cx="5510631" cy="5074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4C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23863" y="960120"/>
            <a:ext cx="5510631" cy="8229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" y="1426464"/>
            <a:ext cx="4815687" cy="4334256"/>
          </a:xfrm>
          <a:prstGeom prst="rect">
            <a:avLst/>
          </a:prstGeom>
          <a:noFill/>
        </p:spPr>
        <p:txBody>
          <a:bodyPr wrap="square" anchor="t" lIns="50800" rIns="50800" tIns="25400" bIns="254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>
                <a:solidFill>
                  <a:srgbClr val="2A554A"/>
                </a:solidFill>
                <a:latin typeface="Manrope"/>
                <a:rFonts ascii="Manrope" hAnsi="Manrope" cs="Manrope" eastAsia="Manrope"/>
              </a:rPr>
              <a:t>Успех (учебный порог)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• Три пилотных клиента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• Повторный заказ минимум у двух из трёх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• Мягкость и ощущение натуральности — не ниже 70% в опросе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• Natural не ушёл в эконом Hotel Line</a:t>
            </a:r>
          </a:p>
          <a:p>
            <a:pPr algn="l">
              <a:lnSpc>
                <a:spcPct val="118000"/>
              </a:lnSpc>
              <a:spcBef>
                <a:spcPts val="1800"/>
              </a:spcBef>
              <a:spcAft>
                <a:spcPts val="0"/>
              </a:spcAft>
            </a:pPr>
            <a:r>
              <a:rPr sz="1200" b="0">
                <a:solidFill>
                  <a:srgbClr val="5C5C5C"/>
                </a:solidFill>
                <a:latin typeface="Golos Text"/>
                <a:rFonts ascii="Golos Text" hAnsi="Golos Text" cs="Golos Text" eastAsia="Golos Text"/>
              </a:rPr>
              <a:t>Цифры сценария — учебный пример, не отчёт завода.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71335" y="1426464"/>
            <a:ext cx="4815687" cy="4334256"/>
          </a:xfrm>
          <a:prstGeom prst="rect">
            <a:avLst/>
          </a:prstGeom>
          <a:noFill/>
        </p:spPr>
        <p:txBody>
          <a:bodyPr wrap="square" anchor="t" lIns="50800" rIns="50800" tIns="25400" bIns="254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>
                <a:solidFill>
                  <a:srgbClr val="2A554A"/>
                </a:solidFill>
                <a:latin typeface="Manrope"/>
                <a:rFonts ascii="Manrope" hAnsi="Manrope" cs="Manrope" eastAsia="Manrope"/>
              </a:rPr>
              <a:t>Провал и выход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Повторный заказ меньше чем у двух из трёх — или метрики ниже 60%.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→ Останавливаем масштабирование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Диагноз бренд-менеджера — в течение двух недель.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Второй пилотный круг снова провален.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→ Закрываем линейку</a:t>
            </a:r>
          </a:p>
          <a:p>
            <a:pPr algn="l">
              <a:lnSpc>
                <a:spcPct val="118000"/>
              </a:lnSpc>
              <a:spcBef>
                <a:spcPts val="1800"/>
              </a:spcBef>
              <a:spcAft>
                <a:spcPts val="0"/>
              </a:spcAft>
            </a:pPr>
            <a:r>
              <a:rPr sz="1200" b="0">
                <a:solidFill>
                  <a:srgbClr val="5C5C5C"/>
                </a:solidFill>
                <a:latin typeface="Golos Text"/>
                <a:rFonts ascii="Golos Text" hAnsi="Golos Text" cs="Golos Text" eastAsia="Golos Text"/>
              </a:rPr>
              <a:t>Пороги — для учебного сценария в пульте, не KPI завода.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56032"/>
            <a:ext cx="11247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2A554A"/>
                </a:solidFill>
                <a:latin typeface="Manrope"/>
                <a:rFonts ascii="Manrope" hAnsi="Manrope" cs="Manrope" eastAsia="Manrope"/>
              </a:rPr>
              <a:t>Поставки и экономика (Китай)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04672"/>
            <a:ext cx="2011680" cy="3657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6263640"/>
            <a:ext cx="11277295" cy="13716"/>
          </a:xfrm>
          <a:prstGeom prst="rect">
            <a:avLst/>
          </a:prstGeom>
          <a:solidFill>
            <a:srgbClr val="D4CE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355080"/>
            <a:ext cx="9601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5C5C5C"/>
                </a:solidFill>
                <a:latin typeface="Golos Text"/>
                <a:rFonts ascii="Golos Text" hAnsi="Golos Text" cs="Golos Text" eastAsia="Golos Text"/>
              </a:rPr>
              <a:t>Natural · пример презентации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355080"/>
            <a:ext cx="1280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>
                <a:solidFill>
                  <a:srgbClr val="5C5C5C"/>
                </a:solidFill>
                <a:latin typeface="Golos Text"/>
                <a:rFonts ascii="Golos Text" hAnsi="Golos Text" cs="Golos Text" eastAsia="Golos Text"/>
              </a:rPr>
              <a:t>10 / 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960120"/>
            <a:ext cx="5510631" cy="5074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4C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960120"/>
            <a:ext cx="5510631" cy="8229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23863" y="960120"/>
            <a:ext cx="5510631" cy="5074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4C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23863" y="960120"/>
            <a:ext cx="5510631" cy="8229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" y="1426464"/>
            <a:ext cx="4815687" cy="4334256"/>
          </a:xfrm>
          <a:prstGeom prst="rect">
            <a:avLst/>
          </a:prstGeom>
          <a:noFill/>
        </p:spPr>
        <p:txBody>
          <a:bodyPr wrap="square" anchor="t" lIns="50800" rIns="50800" tIns="25400" bIns="254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>
                <a:solidFill>
                  <a:srgbClr val="2A554A"/>
                </a:solidFill>
                <a:latin typeface="Manrope"/>
                <a:rFonts ascii="Manrope" hAnsi="Manrope" cs="Manrope" eastAsia="Manrope"/>
              </a:rPr>
              <a:t>Экономика и цена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Прайс утверждаем только после себестоимости на складе в Киришах.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Ориентир по полке: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• выше Hotel Line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• рядом с ЕТС Natural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• ниже Natura Siberica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Не воюем копейкой с ЕТС.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Выигрываем пакетом документов и ощущением в номере.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71335" y="1426464"/>
            <a:ext cx="4815687" cy="4334256"/>
          </a:xfrm>
          <a:prstGeom prst="rect">
            <a:avLst/>
          </a:prstGeom>
          <a:noFill/>
        </p:spPr>
        <p:txBody>
          <a:bodyPr wrap="square" anchor="t" lIns="50800" rIns="50800" tIns="25400" bIns="254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>
                <a:solidFill>
                  <a:srgbClr val="2A554A"/>
                </a:solidFill>
                <a:latin typeface="Manrope"/>
                <a:rFonts ascii="Manrope" hAnsi="Manrope" cs="Manrope" eastAsia="Manrope"/>
              </a:rPr>
              <a:t>Если поставка из Китая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1. Сравниваем заводы в цене FOB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2. Логистику до Кириши считаем отдельной строкой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3. Полная цена = FOB + фрахт + таможня + довоз + запас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Срок пилота — дата «на складе»,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а не формулировка «завод отгрузил».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Происхождение не зафиксировано — не называем «российское».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56032"/>
            <a:ext cx="11247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2A554A"/>
                </a:solidFill>
                <a:latin typeface="Manrope"/>
                <a:rFonts ascii="Manrope" hAnsi="Manrope" cs="Manrope" eastAsia="Manrope"/>
              </a:rPr>
              <a:t>Что уже есть в пульте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04672"/>
            <a:ext cx="2011680" cy="3657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6263640"/>
            <a:ext cx="11277295" cy="13716"/>
          </a:xfrm>
          <a:prstGeom prst="rect">
            <a:avLst/>
          </a:prstGeom>
          <a:solidFill>
            <a:srgbClr val="D4CE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355080"/>
            <a:ext cx="9601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5C5C5C"/>
                </a:solidFill>
                <a:latin typeface="Golos Text"/>
                <a:rFonts ascii="Golos Text" hAnsi="Golos Text" cs="Golos Text" eastAsia="Golos Text"/>
              </a:rPr>
              <a:t>Natural · пример презентации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355080"/>
            <a:ext cx="1280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>
                <a:solidFill>
                  <a:srgbClr val="5C5C5C"/>
                </a:solidFill>
                <a:latin typeface="Golos Text"/>
                <a:rFonts ascii="Golos Text" hAnsi="Golos Text" cs="Golos Text" eastAsia="Golos Text"/>
              </a:rPr>
              <a:t>11 / 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960120"/>
            <a:ext cx="5510631" cy="5074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4C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960120"/>
            <a:ext cx="5510631" cy="8229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23863" y="960120"/>
            <a:ext cx="5510631" cy="5074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4C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23863" y="960120"/>
            <a:ext cx="5510631" cy="8229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" y="1426464"/>
            <a:ext cx="4815687" cy="4334256"/>
          </a:xfrm>
          <a:prstGeom prst="rect">
            <a:avLst/>
          </a:prstGeom>
          <a:noFill/>
        </p:spPr>
        <p:txBody>
          <a:bodyPr wrap="square" anchor="t" lIns="50800" rIns="50800" tIns="25400" bIns="254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>
                <a:solidFill>
                  <a:srgbClr val="2A554A"/>
                </a:solidFill>
                <a:latin typeface="Manrope"/>
                <a:rFonts ascii="Manrope" hAnsi="Manrope" cs="Manrope" eastAsia="Manrope"/>
              </a:rPr>
              <a:t>Содержание пульта v1.14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Этапы 0–2: разведка, правила, границы продукта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Этапы 3–6: учебный сценарий «как вести дело»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StoryBrand, чеклист готовности, реестр рисков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Правила пилота: успех, провал, выход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Мостик портфеля Travel+ (Hotel Line, Fleur, Natural, СТМ)</a:t>
            </a:r>
          </a:p>
          <a:p>
            <a:pPr algn="l">
              <a:lnSpc>
                <a:spcPct val="118000"/>
              </a:lnSpc>
              <a:spcBef>
                <a:spcPts val="1800"/>
              </a:spcBef>
              <a:spcAft>
                <a:spcPts val="0"/>
              </a:spcAft>
            </a:pPr>
            <a:r>
              <a:rPr sz="1200" b="0">
                <a:solidFill>
                  <a:srgbClr val="5C5C5C"/>
                </a:solidFill>
                <a:latin typeface="Golos Text"/>
                <a:rFonts ascii="Golos Text" hAnsi="Golos Text" cs="Golos Text" eastAsia="Golos Text"/>
              </a:rPr>
              <a:t>Статус: образец для поля и собеседования. Не коммерческое предложение.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71335" y="1426464"/>
            <a:ext cx="4815687" cy="4334256"/>
          </a:xfrm>
          <a:prstGeom prst="rect">
            <a:avLst/>
          </a:prstGeom>
          <a:noFill/>
        </p:spPr>
        <p:txBody>
          <a:bodyPr wrap="square" anchor="t" lIns="50800" rIns="50800" tIns="25400" bIns="254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>
                <a:solidFill>
                  <a:srgbClr val="2A554A"/>
                </a:solidFill>
                <a:latin typeface="Manrope"/>
                <a:rFonts ascii="Manrope" hAnsi="Manrope" cs="Manrope" eastAsia="Manrope"/>
              </a:rPr>
              <a:t>Справочники и логистика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Глоссарий бренда и глоссарий ВЭД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Раздел L: путь товара, Incoterms, RFQ, приёмка на складе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Волна A: markdown-реестры в папке brand-pult/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Презентация и скрипт — синхрон с пультом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Версия 2.0 — когда технолог закроет цифры завода.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56032"/>
            <a:ext cx="11247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2A554A"/>
                </a:solidFill>
                <a:latin typeface="Manrope"/>
                <a:rFonts ascii="Manrope" hAnsi="Manrope" cs="Manrope" eastAsia="Manrope"/>
              </a:rPr>
              <a:t>Итог и следующий шаг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04672"/>
            <a:ext cx="2011680" cy="3657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6263640"/>
            <a:ext cx="11277295" cy="13716"/>
          </a:xfrm>
          <a:prstGeom prst="rect">
            <a:avLst/>
          </a:prstGeom>
          <a:solidFill>
            <a:srgbClr val="D4CE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355080"/>
            <a:ext cx="9601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5C5C5C"/>
                </a:solidFill>
                <a:latin typeface="Golos Text"/>
                <a:rFonts ascii="Golos Text" hAnsi="Golos Text" cs="Golos Text" eastAsia="Golos Text"/>
              </a:rPr>
              <a:t>Natural · пример презентации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355080"/>
            <a:ext cx="1280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>
                <a:solidFill>
                  <a:srgbClr val="5C5C5C"/>
                </a:solidFill>
                <a:latin typeface="Golos Text"/>
                <a:rFonts ascii="Golos Text" hAnsi="Golos Text" cs="Golos Text" eastAsia="Golos Text"/>
              </a:rPr>
              <a:t>12 / 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960120"/>
            <a:ext cx="5510631" cy="5074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4C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960120"/>
            <a:ext cx="5510631" cy="8229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23863" y="960120"/>
            <a:ext cx="5510631" cy="5074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4C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23863" y="960120"/>
            <a:ext cx="5510631" cy="8229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" y="1426464"/>
            <a:ext cx="4815687" cy="4334256"/>
          </a:xfrm>
          <a:prstGeom prst="rect">
            <a:avLst/>
          </a:prstGeom>
          <a:noFill/>
        </p:spPr>
        <p:txBody>
          <a:bodyPr wrap="square" anchor="t" lIns="50800" rIns="50800" tIns="25400" bIns="254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>
                <a:solidFill>
                  <a:srgbClr val="2A554A"/>
                </a:solidFill>
                <a:latin typeface="Manrope"/>
                <a:rFonts ascii="Manrope" hAnsi="Manrope" cs="Manrope" eastAsia="Manrope"/>
              </a:rPr>
              <a:t>Собрал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ДНК + StoryBrand + DoD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Полевая защита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400"/>
              </a:spcAft>
            </a:pPr>
            <a:r>
              <a:rPr sz="16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Чеклист поставок при Китае (раздел L)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5C5C5C"/>
                </a:solidFill>
                <a:latin typeface="Golos Text"/>
                <a:rFonts ascii="Golos Text" hAnsi="Golos Text" cs="Golos Text" eastAsia="Golos Text"/>
              </a:rPr>
              <a:t>Не прайс завода. Не КП.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71335" y="1426464"/>
            <a:ext cx="4815687" cy="4334256"/>
          </a:xfrm>
          <a:prstGeom prst="rect">
            <a:avLst/>
          </a:prstGeom>
          <a:noFill/>
        </p:spPr>
        <p:txBody>
          <a:bodyPr wrap="square" anchor="t" lIns="50800" rIns="50800" tIns="25400" bIns="254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>
                <a:solidFill>
                  <a:srgbClr val="2A554A"/>
                </a:solidFill>
                <a:latin typeface="Manrope"/>
                <a:rFonts ascii="Manrope" hAnsi="Manrope" cs="Manrope" eastAsia="Manrope"/>
              </a:rPr>
              <a:t>Готов обсудить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1) Приоритет блокеров этапа 2 с технологом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2) Пилотный сегмент eco / wellness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400"/>
              </a:spcAft>
            </a:pPr>
            <a:r>
              <a:rPr sz="16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3) Как вести продажи, чтобы Natural не ушёл в эконом Hotel Line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Спасибо. Вопросы.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