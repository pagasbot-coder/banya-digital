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3840480" cy="2926080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3000" b="1">
                <a:solidFill>
                  <a:srgbClr val="FFFFFF"/>
                </a:solidFill>
                <a:latin typeface="Manrope"/>
                <a:rFonts ascii="Manrope" hAnsi="Manrope" cs="Manrope" eastAsia="Manrope"/>
              </a:rPr>
              <a:t>Павел Биджиев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Golos Text"/>
                <a:rFonts ascii="Golos Text" hAnsi="Golos Text" cs="Golos Text" eastAsia="Golos Text"/>
              </a:rPr>
              <a:t>Продакт / бренд-логика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8DDD6"/>
                </a:solidFill>
                <a:latin typeface="Golos Text"/>
                <a:rFonts ascii="Golos Text" hAnsi="Golos Text" cs="Golos Text" eastAsia="Golos Text"/>
              </a:rPr>
              <a:t>Физические товары · HoReCa amenities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828800"/>
            <a:ext cx="6309360" cy="3474720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32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Travel+ Natural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Своя натуральная линейка: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800"/>
              </a:spcAft>
            </a:pPr>
            <a:r>
              <a:rPr sz="1900" b="0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от рамки до пилота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Подготовка · АК-Сервис / Travel+ · Кириши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Образец презентации · не оферта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Как понял роль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2011680" cy="3657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77295" cy="13716"/>
          </a:xfrm>
          <a:prstGeom prst="rect">
            <a:avLst/>
          </a:prstGeom>
          <a:solidFill>
            <a:srgbClr val="D4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Natural · пример презентации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3863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Travel+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Поставка на номер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One-stop: косметика, тапочки, наборы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Контур производства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Своё производство и сборка; закупки и производство в Китае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Фокус роли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Товар от идеи до полки и маржи.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335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Роль здесь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Ассортимент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Новинки и позиция в доме брендов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Продукт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Доказательства до выхода на витрину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Связка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Технолог → продажи → экономика → поставка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Дыра на витрине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2011680" cy="3657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77295" cy="13716"/>
          </a:xfrm>
          <a:prstGeom prst="rect">
            <a:avLst/>
          </a:prstGeom>
          <a:solidFill>
            <a:srgbClr val="D4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Natural · пример презентации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3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3863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Рынок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Конкуренты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ЕТС Natural · MEZO · Natura Siberica (чужой премиум в каталоге)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Сила Travel+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Массовый и средний сегмент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Дыра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Своей Natural с документами нет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335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Ценовая лестка (не оферта)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Hotel Line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12–15 ₽ / 30 мл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ЕТС Natural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18 ₽ / 25 мл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Natura Siberica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30–40 ₽ и выше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Место Natural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Между Hotel Line и Natura Siberica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Дом линеек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2011680" cy="3657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77295" cy="13716"/>
          </a:xfrm>
          <a:prstGeom prst="rect">
            <a:avLst/>
          </a:prstGeom>
          <a:solidFill>
            <a:srgbClr val="D4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Natural · пример презентации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4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3863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Карта портфеля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Hotel Line — цена и базовый сегмент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Fleur / Aquatique / La Nuit — дизайн и аромат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Natural — натуральность и документы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Natura Siberica — чужой премиум в каталоге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СТМ с логотипом отеля — отдельный проект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335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Мостик для продаж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Fleur закрывает дизайн и аромат в номере.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Natural — запрос на натуральность и полный пакет документов.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Fleur и Natural не конкурируют — разные задачи.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На одном объекте: стандартные номера — Hotel Line или Fleur; wellness-корпус или этаж с eco-запросом — Natural.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Обещание + StoryBrand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2011680" cy="3657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77295" cy="13716"/>
          </a:xfrm>
          <a:prstGeom prst="rect">
            <a:avLst/>
          </a:prstGeom>
          <a:solidFill>
            <a:srgbClr val="D4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Natural · пример презентации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5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3863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Обещание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Мягкий уход с понятной натуральностью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Для отеля, которому важен комфорт гостя и спокойная проверка документов.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Доказательства: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• Состав в согласованных границах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• Пакет документов Travel+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• Ощущение в номере после использования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• Один поставщик на весь номер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• Блок «простыми словами» на этикетке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335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BrandScript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Герой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Закупщик отеля с запросом eco / wellness: выглядеть «зеленее» без дыры в бюджете и в бумагах.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Проводник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Travel+ Natural — своя линейка, документы и one-stop на номер.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План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1. Согласовать сегмент и объект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2. Образец с этикеткой и пакетом документов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3. Пилот на этаже или в корпусе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Гость после дороги: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Ощущение мягче, чем ожидал.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Понятная натуральность — без громких обещаний на этикетке.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Готовность продукта перед рынком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2011680" cy="3657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77295" cy="13716"/>
          </a:xfrm>
          <a:prstGeom prst="rect">
            <a:avLst/>
          </a:prstGeom>
          <a:solidFill>
            <a:srgbClr val="D4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Natural · пример презентации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6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3863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Чеклист: без этого — не в продажи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□ Метод расчёта и доля натуральных ингредиентов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□ Пакет документов как у Hotel Line и Fleur + лист состава Natural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□ Происхождение (origin) зафиксировано письменно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□ Слепой тест запаха и ощущения с гостями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□ Этикетка с блоком «простыми словами»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□ Себестоимость и коридор цены на полке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□ Срок поставки, минимальный заказ, правила брака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335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Как читать список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Каждый пункт — обязательное условие.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Пока хотя бы один не закрыт — коммерческое предложение и выход на витрину стоп.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На старте без знака COSMOS, если его нет — говорим честно.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Этапы 3–6 в пульте — учебный сценарий,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а не отчёт завода и не основание для КП.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Питч закупщику (30 секунд)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2011680" cy="3657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77295" cy="13716"/>
          </a:xfrm>
          <a:prstGeom prst="rect">
            <a:avLst/>
          </a:prstGeom>
          <a:solidFill>
            <a:srgbClr val="D4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Natural · пример презентации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7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60120"/>
            <a:ext cx="11277295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11277295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426464"/>
            <a:ext cx="10582351" cy="360273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Задача закупщика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Отель хочет выглядеть экологичнее — без риска для гостя и без пробелов в документах при проверке.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Что предлагаем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Travel+ Natural — пакет документов как у Hotel Line и Fleur: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декларация или СГР, INCI, протоколы по запросу.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Состав с блоком «простыми словами». Один договор на весь номер.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Три шага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1. Сегмент eco / wellness и объект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2. Образец с этикеткой и документами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3. Пилот на этаже или в корпусе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5468112"/>
            <a:ext cx="10582351" cy="502920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Отрицания (COSMOS, происхождение, цена Hotel Line) — только в блоке возражений.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Поле: возражения и риски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2011680" cy="3657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77295" cy="13716"/>
          </a:xfrm>
          <a:prstGeom prst="rect">
            <a:avLst/>
          </a:prstGeom>
          <a:solidFill>
            <a:srgbClr val="D4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Natural · пример презентации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8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3863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Возражения и ответы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COSMOS в тендере обязателен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Знака нет — Natural в это коммерческое предложение не ставим. Предлагаем Hotel Line или отказ.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«Natural по цене Hotel Line»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Нет. Другая себестоимость и другая позиция на полке.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СТМ / логотип отеля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Отдельный проект. Не маскируем под Natural.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«Где произведено?»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Только зафиксированное происхождение. Без догадок и «скорее всего».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335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Полевая дисциплина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Реестр рисков — один лист в пульте (14 пунктов).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Сегмент не размываем: Natural не уходит в эконом-запрос.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Не продаём Natural вместо Hotel Line по цене базовой линейки.</a:t>
            </a:r>
          </a:p>
          <a:p>
            <a:pPr algn="l">
              <a:lnSpc>
                <a:spcPct val="118000"/>
              </a:lnSpc>
              <a:spcBef>
                <a:spcPts val="1800"/>
              </a:spcBef>
              <a:spcAft>
                <a:spcPts val="0"/>
              </a:spcAft>
            </a:pPr>
            <a:r>
              <a:rPr sz="12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Цифры сценария — учебный пример, не отчёт завода.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Пилот: успех, провал, выход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2011680" cy="3657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77295" cy="13716"/>
          </a:xfrm>
          <a:prstGeom prst="rect">
            <a:avLst/>
          </a:prstGeom>
          <a:solidFill>
            <a:srgbClr val="D4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Natural · пример презентации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9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3863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Успех (учебный порог)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• Три пилотных клиента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• Повторный заказ минимум у двух из трёх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• Мягкость и ощущение натуральности — не ниже 70% в опросе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• Natural не ушёл в эконом Hotel Line</a:t>
            </a:r>
          </a:p>
          <a:p>
            <a:pPr algn="l">
              <a:lnSpc>
                <a:spcPct val="118000"/>
              </a:lnSpc>
              <a:spcBef>
                <a:spcPts val="1800"/>
              </a:spcBef>
              <a:spcAft>
                <a:spcPts val="0"/>
              </a:spcAft>
            </a:pPr>
            <a:r>
              <a:rPr sz="12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Цифры сценария — учебный пример, не отчёт завода.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335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Провал и выход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Повторный заказ меньше чем у двух из трёх — или метрики ниже 60%.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→ Останавливаем масштабирование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Диагноз бренд-менеджера — в течение двух недель.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Второй пилотный круг снова провален.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→ Закрываем линейку</a:t>
            </a:r>
          </a:p>
          <a:p>
            <a:pPr algn="l">
              <a:lnSpc>
                <a:spcPct val="118000"/>
              </a:lnSpc>
              <a:spcBef>
                <a:spcPts val="1800"/>
              </a:spcBef>
              <a:spcAft>
                <a:spcPts val="0"/>
              </a:spcAft>
            </a:pPr>
            <a:r>
              <a:rPr sz="12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Пороги — для учебного сценария в пульте, не KPI завода.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Поставки и экономика (Китай)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2011680" cy="3657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77295" cy="13716"/>
          </a:xfrm>
          <a:prstGeom prst="rect">
            <a:avLst/>
          </a:prstGeom>
          <a:solidFill>
            <a:srgbClr val="D4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Natural · пример презентации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10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3863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Экономика и цена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Прайс утверждаем только после себестоимости на складе в Киришах.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Ориентир по полке: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• выше Hotel Line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• рядом с ЕТС Natural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• ниже Natura Siberica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Не воюем копейкой с ЕТС.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Выигрываем пакетом документов и ощущением в номере.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335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Если поставка из Китая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1. Сравниваем заводы в цене FOB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2. Логистику до Кириши считаем отдельной строкой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3. Полная цена = FOB + фрахт + таможня + довоз + запас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Срок пилота — дата «на складе»,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а не формулировка «завод отгрузил».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Происхождение не зафиксировано — не называем «российское».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Что уже есть в пульте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2011680" cy="3657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77295" cy="13716"/>
          </a:xfrm>
          <a:prstGeom prst="rect">
            <a:avLst/>
          </a:prstGeom>
          <a:solidFill>
            <a:srgbClr val="D4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Natural · пример презентации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11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3863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Содержание пульта v1.14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Этапы 0–2: разведка, правила, границы продукта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Этапы 3–6: учебный сценарий «как вести дело»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StoryBrand, чеклист готовности, реестр рисков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Правила пилота: успех, провал, выход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Мостик портфеля Travel+ (Hotel Line, Fleur, Natural, СТМ)</a:t>
            </a:r>
          </a:p>
          <a:p>
            <a:pPr algn="l">
              <a:lnSpc>
                <a:spcPct val="118000"/>
              </a:lnSpc>
              <a:spcBef>
                <a:spcPts val="1800"/>
              </a:spcBef>
              <a:spcAft>
                <a:spcPts val="0"/>
              </a:spcAft>
            </a:pPr>
            <a:r>
              <a:rPr sz="12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Статус: образец для поля и собеседования. Не коммерческое предложение.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335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Справочники и логистика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Глоссарий бренда и глоссарий ВЭД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Раздел L: путь товара, Incoterms, RFQ, приёмка на складе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Волна A: markdown-реестры в папке brand-pult/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Презентация и скрипт — синхрон с пультом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Версия 2.0 — когда технолог закроет цифры завода.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Итог и следующий шаг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2011680" cy="3657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77295" cy="13716"/>
          </a:xfrm>
          <a:prstGeom prst="rect">
            <a:avLst/>
          </a:prstGeom>
          <a:solidFill>
            <a:srgbClr val="D4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Natural · пример презентации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12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3863" y="960120"/>
            <a:ext cx="5510631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C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3863" y="960120"/>
            <a:ext cx="5510631" cy="82296"/>
          </a:xfrm>
          <a:prstGeom prst="rect">
            <a:avLst/>
          </a:prstGeom>
          <a:solidFill>
            <a:srgbClr val="2A5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Собрал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ДНК + StoryBrand + DoD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Полевая защита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Чеклист поставок при Китае (раздел L)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C5C5C"/>
                </a:solidFill>
                <a:latin typeface="Golos Text"/>
                <a:rFonts ascii="Golos Text" hAnsi="Golos Text" cs="Golos Text" eastAsia="Golos Text"/>
              </a:rPr>
              <a:t>Не прайс завода. Не КП.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335" y="1426464"/>
            <a:ext cx="4815687" cy="4334256"/>
          </a:xfrm>
          <a:prstGeom prst="rect">
            <a:avLst/>
          </a:prstGeom>
          <a:noFill/>
        </p:spPr>
        <p:txBody>
          <a:bodyPr wrap="square" anchor="t" lIns="50800" rIns="50800" tIns="25400" bIns="254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A554A"/>
                </a:solidFill>
                <a:latin typeface="Manrope"/>
                <a:rFonts ascii="Manrope" hAnsi="Manrope" cs="Manrope" eastAsia="Manrope"/>
              </a:rPr>
              <a:t>Готов обсудить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1) Приоритет блокеров этапа 2 с технологом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2) Пилотный сегмент eco / wellness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1A1A1A"/>
                </a:solidFill>
                <a:latin typeface="Golos Text"/>
                <a:rFonts ascii="Golos Text" hAnsi="Golos Text" cs="Golos Text" eastAsia="Golos Text"/>
              </a:rPr>
              <a:t>3) Как вести продажи, чтобы Natural не ушёл в эконом Hotel Line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  <a:latin typeface="Manrope"/>
                <a:rFonts ascii="Manrope" hAnsi="Manrope" cs="Manrope" eastAsia="Manrope"/>
              </a:rPr>
              <a:t>Спасибо. Вопросы.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